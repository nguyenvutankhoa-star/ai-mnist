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ssistant Bold" charset="1" panose="00000800000000000000"/>
      <p:regular r:id="rId16"/>
    </p:embeddedFont>
    <p:embeddedFont>
      <p:font typeface="Arimo" charset="1" panose="020B0604020202020204"/>
      <p:regular r:id="rId17"/>
    </p:embeddedFont>
    <p:embeddedFont>
      <p:font typeface="Arimo Italics" charset="1" panose="020B0604020202090204"/>
      <p:regular r:id="rId18"/>
    </p:embeddedFont>
    <p:embeddedFont>
      <p:font typeface="Arimo Bold" charset="1" panose="020B07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9.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5158" y="-6571393"/>
            <a:ext cx="18938317" cy="9779058"/>
          </a:xfrm>
          <a:custGeom>
            <a:avLst/>
            <a:gdLst/>
            <a:ahLst/>
            <a:cxnLst/>
            <a:rect r="r" b="b" t="t" l="l"/>
            <a:pathLst>
              <a:path h="9779058" w="18938317">
                <a:moveTo>
                  <a:pt x="0" y="0"/>
                </a:moveTo>
                <a:lnTo>
                  <a:pt x="18938316" y="0"/>
                </a:lnTo>
                <a:lnTo>
                  <a:pt x="18938316" y="9779058"/>
                </a:lnTo>
                <a:lnTo>
                  <a:pt x="0" y="97790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9" id="9"/>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10" id="10"/>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1" id="11"/>
          <p:cNvGrpSpPr/>
          <p:nvPr/>
        </p:nvGrpSpPr>
        <p:grpSpPr>
          <a:xfrm rot="0">
            <a:off x="16259067" y="9197765"/>
            <a:ext cx="121069" cy="1210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3" id="13"/>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4" id="14"/>
          <p:cNvGrpSpPr/>
          <p:nvPr/>
        </p:nvGrpSpPr>
        <p:grpSpPr>
          <a:xfrm rot="0">
            <a:off x="1907864" y="968165"/>
            <a:ext cx="121069" cy="12106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6" id="16"/>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TextBox 17" id="17"/>
          <p:cNvSpPr txBox="true"/>
          <p:nvPr/>
        </p:nvSpPr>
        <p:spPr>
          <a:xfrm rot="0">
            <a:off x="3100271" y="4482536"/>
            <a:ext cx="12087457" cy="1019175"/>
          </a:xfrm>
          <a:prstGeom prst="rect">
            <a:avLst/>
          </a:prstGeom>
        </p:spPr>
        <p:txBody>
          <a:bodyPr anchor="t" rtlCol="false" tIns="0" lIns="0" bIns="0" rIns="0">
            <a:spAutoFit/>
          </a:bodyPr>
          <a:lstStyle/>
          <a:p>
            <a:pPr algn="ctr" marL="0" indent="0" lvl="0">
              <a:lnSpc>
                <a:spcPts val="8054"/>
              </a:lnSpc>
              <a:spcBef>
                <a:spcPct val="0"/>
              </a:spcBef>
            </a:pPr>
            <a:r>
              <a:rPr lang="en-US" b="true" sz="6711" spc="67">
                <a:solidFill>
                  <a:srgbClr val="FFDE59"/>
                </a:solidFill>
                <a:latin typeface="Assistant Bold"/>
                <a:ea typeface="Assistant Bold"/>
                <a:cs typeface="Assistant Bold"/>
                <a:sym typeface="Assistant Bold"/>
              </a:rPr>
              <a:t>NHẬN DIỆN CHỮ VIẾT TAY</a:t>
            </a:r>
          </a:p>
        </p:txBody>
      </p:sp>
      <p:sp>
        <p:nvSpPr>
          <p:cNvPr name="TextBox 18" id="18"/>
          <p:cNvSpPr txBox="true"/>
          <p:nvPr/>
        </p:nvSpPr>
        <p:spPr>
          <a:xfrm rot="0">
            <a:off x="3739986" y="2026565"/>
            <a:ext cx="10808027" cy="2219325"/>
          </a:xfrm>
          <a:prstGeom prst="rect">
            <a:avLst/>
          </a:prstGeom>
        </p:spPr>
        <p:txBody>
          <a:bodyPr anchor="t" rtlCol="false" tIns="0" lIns="0" bIns="0" rIns="0">
            <a:spAutoFit/>
          </a:bodyPr>
          <a:lstStyle/>
          <a:p>
            <a:pPr algn="ctr" marL="0" indent="0" lvl="0">
              <a:lnSpc>
                <a:spcPts val="8848"/>
              </a:lnSpc>
              <a:spcBef>
                <a:spcPct val="0"/>
              </a:spcBef>
            </a:pPr>
            <a:r>
              <a:rPr lang="en-US" b="true" sz="7374" spc="221">
                <a:solidFill>
                  <a:srgbClr val="FFFFFF"/>
                </a:solidFill>
                <a:latin typeface="Assistant Bold"/>
                <a:ea typeface="Assistant Bold"/>
                <a:cs typeface="Assistant Bold"/>
                <a:sym typeface="Assistant Bold"/>
              </a:rPr>
              <a:t>DEEP</a:t>
            </a:r>
          </a:p>
          <a:p>
            <a:pPr algn="ctr" marL="0" indent="0" lvl="0">
              <a:lnSpc>
                <a:spcPts val="8848"/>
              </a:lnSpc>
              <a:spcBef>
                <a:spcPct val="0"/>
              </a:spcBef>
            </a:pPr>
            <a:r>
              <a:rPr lang="en-US" b="true" sz="7374" spc="221">
                <a:solidFill>
                  <a:srgbClr val="FFFFFF"/>
                </a:solidFill>
                <a:latin typeface="Assistant Bold"/>
                <a:ea typeface="Assistant Bold"/>
                <a:cs typeface="Assistant Bold"/>
                <a:sym typeface="Assistant Bold"/>
              </a:rPr>
              <a:t>LEARNING</a:t>
            </a:r>
          </a:p>
        </p:txBody>
      </p:sp>
      <p:sp>
        <p:nvSpPr>
          <p:cNvPr name="TextBox 19" id="19"/>
          <p:cNvSpPr txBox="true"/>
          <p:nvPr/>
        </p:nvSpPr>
        <p:spPr>
          <a:xfrm rot="0">
            <a:off x="3649102" y="7869303"/>
            <a:ext cx="10989796" cy="352425"/>
          </a:xfrm>
          <a:prstGeom prst="rect">
            <a:avLst/>
          </a:prstGeom>
        </p:spPr>
        <p:txBody>
          <a:bodyPr anchor="t" rtlCol="false" tIns="0" lIns="0" bIns="0" rIns="0">
            <a:spAutoFit/>
          </a:bodyPr>
          <a:lstStyle/>
          <a:p>
            <a:pPr algn="ctr" marL="0" indent="0" lvl="0">
              <a:lnSpc>
                <a:spcPts val="2626"/>
              </a:lnSpc>
              <a:spcBef>
                <a:spcPct val="0"/>
              </a:spcBef>
            </a:pPr>
            <a:r>
              <a:rPr lang="en-US" sz="2188" spc="21">
                <a:solidFill>
                  <a:srgbClr val="FFFFFF"/>
                </a:solidFill>
                <a:latin typeface="Arimo"/>
                <a:ea typeface="Arimo"/>
                <a:cs typeface="Arimo"/>
                <a:sym typeface="Arimo"/>
              </a:rPr>
              <a:t>Mô Hình Trí Tuệ Nhân Tạo | AI Handwriting Recognition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5158" y="-6571393"/>
            <a:ext cx="18938317" cy="9779058"/>
          </a:xfrm>
          <a:custGeom>
            <a:avLst/>
            <a:gdLst/>
            <a:ahLst/>
            <a:cxnLst/>
            <a:rect r="r" b="b" t="t" l="l"/>
            <a:pathLst>
              <a:path h="9779058" w="18938317">
                <a:moveTo>
                  <a:pt x="0" y="0"/>
                </a:moveTo>
                <a:lnTo>
                  <a:pt x="18938316" y="0"/>
                </a:lnTo>
                <a:lnTo>
                  <a:pt x="18938316" y="9779058"/>
                </a:lnTo>
                <a:lnTo>
                  <a:pt x="0" y="97790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9" id="9"/>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10" id="10"/>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1" id="11"/>
          <p:cNvGrpSpPr/>
          <p:nvPr/>
        </p:nvGrpSpPr>
        <p:grpSpPr>
          <a:xfrm rot="0">
            <a:off x="16259067" y="9197765"/>
            <a:ext cx="121069" cy="1210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3" id="13"/>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4" id="14"/>
          <p:cNvGrpSpPr/>
          <p:nvPr/>
        </p:nvGrpSpPr>
        <p:grpSpPr>
          <a:xfrm rot="0">
            <a:off x="1907864" y="968165"/>
            <a:ext cx="121069" cy="12106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6" id="16"/>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TextBox 17" id="17"/>
          <p:cNvSpPr txBox="true"/>
          <p:nvPr/>
        </p:nvSpPr>
        <p:spPr>
          <a:xfrm rot="0">
            <a:off x="3649102" y="2183552"/>
            <a:ext cx="11089959" cy="1586480"/>
          </a:xfrm>
          <a:prstGeom prst="rect">
            <a:avLst/>
          </a:prstGeom>
        </p:spPr>
        <p:txBody>
          <a:bodyPr anchor="t" rtlCol="false" tIns="0" lIns="0" bIns="0" rIns="0">
            <a:spAutoFit/>
          </a:bodyPr>
          <a:lstStyle/>
          <a:p>
            <a:pPr algn="ctr" marL="0" indent="0" lvl="0">
              <a:lnSpc>
                <a:spcPts val="12584"/>
              </a:lnSpc>
              <a:spcBef>
                <a:spcPct val="0"/>
              </a:spcBef>
            </a:pPr>
            <a:r>
              <a:rPr lang="en-US" b="true" sz="10486" spc="314">
                <a:solidFill>
                  <a:srgbClr val="FFFFFF"/>
                </a:solidFill>
                <a:latin typeface="Assistant Bold"/>
                <a:ea typeface="Assistant Bold"/>
                <a:cs typeface="Assistant Bold"/>
                <a:sym typeface="Assistant Bold"/>
              </a:rPr>
              <a:t>GIỚI THIẸU</a:t>
            </a:r>
          </a:p>
        </p:txBody>
      </p:sp>
      <p:sp>
        <p:nvSpPr>
          <p:cNvPr name="TextBox 18" id="18"/>
          <p:cNvSpPr txBox="true"/>
          <p:nvPr/>
        </p:nvSpPr>
        <p:spPr>
          <a:xfrm rot="0">
            <a:off x="3749264" y="4113629"/>
            <a:ext cx="10989796" cy="2162175"/>
          </a:xfrm>
          <a:prstGeom prst="rect">
            <a:avLst/>
          </a:prstGeom>
        </p:spPr>
        <p:txBody>
          <a:bodyPr anchor="t" rtlCol="false" tIns="0" lIns="0" bIns="0" rIns="0">
            <a:spAutoFit/>
          </a:bodyPr>
          <a:lstStyle/>
          <a:p>
            <a:pPr algn="ctr" marL="0" indent="0" lvl="0">
              <a:lnSpc>
                <a:spcPts val="3392"/>
              </a:lnSpc>
              <a:spcBef>
                <a:spcPct val="0"/>
              </a:spcBef>
            </a:pPr>
            <a:r>
              <a:rPr lang="en-US" sz="2827" spc="28">
                <a:solidFill>
                  <a:srgbClr val="FFFFFF"/>
                </a:solidFill>
                <a:latin typeface="Arimo"/>
                <a:ea typeface="Arimo"/>
                <a:cs typeface="Arimo"/>
                <a:sym typeface="Arimo"/>
              </a:rPr>
              <a:t>Hệ thống nhận diện chữ viết tay ứng dụng mạng nơ-ron sâu (Deep Learning) để tự động phân tích và chuyển đổi hình ảnh chữ viết tay thành văn bản số. Mô hình được huấn luyện trên tập dữ liệu lớn, cho phép nhận diện chính xác các ký tự viết tay với độ chính xác cao, hỗ trợ xử lý ngôn ngữ tự nhiên và số hóa tài liệu hiệu quả.</a:t>
            </a:r>
          </a:p>
        </p:txBody>
      </p:sp>
      <p:sp>
        <p:nvSpPr>
          <p:cNvPr name="TextBox 19" id="19"/>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5158" y="-6571393"/>
            <a:ext cx="18938317" cy="9779058"/>
          </a:xfrm>
          <a:custGeom>
            <a:avLst/>
            <a:gdLst/>
            <a:ahLst/>
            <a:cxnLst/>
            <a:rect r="r" b="b" t="t" l="l"/>
            <a:pathLst>
              <a:path h="9779058" w="18938317">
                <a:moveTo>
                  <a:pt x="0" y="0"/>
                </a:moveTo>
                <a:lnTo>
                  <a:pt x="18938316" y="0"/>
                </a:lnTo>
                <a:lnTo>
                  <a:pt x="18938316" y="9779058"/>
                </a:lnTo>
                <a:lnTo>
                  <a:pt x="0" y="97790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9" id="9"/>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10" id="10"/>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1" id="11"/>
          <p:cNvGrpSpPr/>
          <p:nvPr/>
        </p:nvGrpSpPr>
        <p:grpSpPr>
          <a:xfrm rot="0">
            <a:off x="16259067" y="9197765"/>
            <a:ext cx="121069" cy="1210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3" id="13"/>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4" id="14"/>
          <p:cNvGrpSpPr/>
          <p:nvPr/>
        </p:nvGrpSpPr>
        <p:grpSpPr>
          <a:xfrm rot="0">
            <a:off x="1907864" y="968165"/>
            <a:ext cx="121069" cy="12106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6" id="16"/>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7" id="17"/>
          <p:cNvSpPr/>
          <p:nvPr/>
        </p:nvSpPr>
        <p:spPr>
          <a:xfrm flipH="false" flipV="false" rot="0">
            <a:off x="1747380" y="1089235"/>
            <a:ext cx="10252790" cy="5237931"/>
          </a:xfrm>
          <a:custGeom>
            <a:avLst/>
            <a:gdLst/>
            <a:ahLst/>
            <a:cxnLst/>
            <a:rect r="r" b="b" t="t" l="l"/>
            <a:pathLst>
              <a:path h="5237931" w="10252790">
                <a:moveTo>
                  <a:pt x="0" y="0"/>
                </a:moveTo>
                <a:lnTo>
                  <a:pt x="10252790" y="0"/>
                </a:lnTo>
                <a:lnTo>
                  <a:pt x="10252790" y="5237930"/>
                </a:lnTo>
                <a:lnTo>
                  <a:pt x="0" y="5237930"/>
                </a:lnTo>
                <a:lnTo>
                  <a:pt x="0" y="0"/>
                </a:lnTo>
                <a:close/>
              </a:path>
            </a:pathLst>
          </a:custGeom>
          <a:blipFill>
            <a:blip r:embed="rId9"/>
            <a:stretch>
              <a:fillRect l="0" t="-104" r="0" b="-6749"/>
            </a:stretch>
          </a:blipFill>
        </p:spPr>
      </p:sp>
      <p:sp>
        <p:nvSpPr>
          <p:cNvPr name="Freeform 18" id="18"/>
          <p:cNvSpPr/>
          <p:nvPr/>
        </p:nvSpPr>
        <p:spPr>
          <a:xfrm flipH="false" flipV="false" rot="0">
            <a:off x="432140" y="6454356"/>
            <a:ext cx="17518735" cy="1912462"/>
          </a:xfrm>
          <a:custGeom>
            <a:avLst/>
            <a:gdLst/>
            <a:ahLst/>
            <a:cxnLst/>
            <a:rect r="r" b="b" t="t" l="l"/>
            <a:pathLst>
              <a:path h="1912462" w="17518735">
                <a:moveTo>
                  <a:pt x="0" y="0"/>
                </a:moveTo>
                <a:lnTo>
                  <a:pt x="17518735" y="0"/>
                </a:lnTo>
                <a:lnTo>
                  <a:pt x="17518735" y="1912462"/>
                </a:lnTo>
                <a:lnTo>
                  <a:pt x="0" y="1912462"/>
                </a:lnTo>
                <a:lnTo>
                  <a:pt x="0" y="0"/>
                </a:lnTo>
                <a:close/>
              </a:path>
            </a:pathLst>
          </a:custGeom>
          <a:blipFill>
            <a:blip r:embed="rId10"/>
            <a:stretch>
              <a:fillRect l="0" t="0" r="0" b="0"/>
            </a:stretch>
          </a:blipFill>
        </p:spPr>
      </p:sp>
      <p:sp>
        <p:nvSpPr>
          <p:cNvPr name="TextBox 19" id="19"/>
          <p:cNvSpPr txBox="true"/>
          <p:nvPr/>
        </p:nvSpPr>
        <p:spPr>
          <a:xfrm rot="0">
            <a:off x="14137163" y="1592174"/>
            <a:ext cx="3610504" cy="4838044"/>
          </a:xfrm>
          <a:prstGeom prst="rect">
            <a:avLst/>
          </a:prstGeom>
        </p:spPr>
        <p:txBody>
          <a:bodyPr anchor="t" rtlCol="false" tIns="0" lIns="0" bIns="0" rIns="0">
            <a:spAutoFit/>
          </a:bodyPr>
          <a:lstStyle/>
          <a:p>
            <a:pPr algn="ctr" marL="0" indent="0" lvl="0">
              <a:lnSpc>
                <a:spcPts val="9536"/>
              </a:lnSpc>
              <a:spcBef>
                <a:spcPct val="0"/>
              </a:spcBef>
            </a:pPr>
            <a:r>
              <a:rPr lang="en-US" b="true" sz="7947" spc="238">
                <a:solidFill>
                  <a:srgbClr val="FFFFFF"/>
                </a:solidFill>
                <a:latin typeface="Assistant Bold"/>
                <a:ea typeface="Assistant Bold"/>
                <a:cs typeface="Assistant Bold"/>
                <a:sym typeface="Assistant Bold"/>
              </a:rPr>
              <a:t>QUY </a:t>
            </a:r>
          </a:p>
          <a:p>
            <a:pPr algn="ctr" marL="0" indent="0" lvl="0">
              <a:lnSpc>
                <a:spcPts val="9536"/>
              </a:lnSpc>
              <a:spcBef>
                <a:spcPct val="0"/>
              </a:spcBef>
            </a:pPr>
            <a:r>
              <a:rPr lang="en-US" b="true" sz="7947" spc="238">
                <a:solidFill>
                  <a:srgbClr val="FFFFFF"/>
                </a:solidFill>
                <a:latin typeface="Assistant Bold"/>
                <a:ea typeface="Assistant Bold"/>
                <a:cs typeface="Assistant Bold"/>
                <a:sym typeface="Assistant Bold"/>
              </a:rPr>
              <a:t>TRÌNH </a:t>
            </a:r>
          </a:p>
          <a:p>
            <a:pPr algn="ctr" marL="0" indent="0" lvl="0">
              <a:lnSpc>
                <a:spcPts val="9536"/>
              </a:lnSpc>
              <a:spcBef>
                <a:spcPct val="0"/>
              </a:spcBef>
            </a:pPr>
            <a:r>
              <a:rPr lang="en-US" b="true" sz="7947" spc="238">
                <a:solidFill>
                  <a:srgbClr val="FFFFFF"/>
                </a:solidFill>
                <a:latin typeface="Assistant Bold"/>
                <a:ea typeface="Assistant Bold"/>
                <a:cs typeface="Assistant Bold"/>
                <a:sym typeface="Assistant Bold"/>
              </a:rPr>
              <a:t>XỬ </a:t>
            </a:r>
          </a:p>
          <a:p>
            <a:pPr algn="ctr" marL="0" indent="0" lvl="0">
              <a:lnSpc>
                <a:spcPts val="9536"/>
              </a:lnSpc>
              <a:spcBef>
                <a:spcPct val="0"/>
              </a:spcBef>
            </a:pPr>
            <a:r>
              <a:rPr lang="en-US" b="true" sz="7947" spc="238">
                <a:solidFill>
                  <a:srgbClr val="FFFFFF"/>
                </a:solidFill>
                <a:latin typeface="Assistant Bold"/>
                <a:ea typeface="Assistant Bold"/>
                <a:cs typeface="Assistant Bold"/>
                <a:sym typeface="Assistant Bold"/>
              </a:rPr>
              <a:t>LÝ</a:t>
            </a:r>
          </a:p>
        </p:txBody>
      </p:sp>
      <p:sp>
        <p:nvSpPr>
          <p:cNvPr name="TextBox 20" id="20"/>
          <p:cNvSpPr txBox="true"/>
          <p:nvPr/>
        </p:nvSpPr>
        <p:spPr>
          <a:xfrm rot="0">
            <a:off x="10311200" y="9399991"/>
            <a:ext cx="6008402" cy="314325"/>
          </a:xfrm>
          <a:prstGeom prst="rect">
            <a:avLst/>
          </a:prstGeom>
        </p:spPr>
        <p:txBody>
          <a:bodyPr anchor="t" rtlCol="false" tIns="0" lIns="0" bIns="0" rIns="0">
            <a:spAutoFit/>
          </a:bodyPr>
          <a:lstStyle/>
          <a:p>
            <a:pPr algn="r" marL="0" indent="0" lvl="0">
              <a:lnSpc>
                <a:spcPts val="2472"/>
              </a:lnSpc>
              <a:spcBef>
                <a:spcPct val="0"/>
              </a:spcBef>
            </a:pPr>
            <a:r>
              <a:rPr lang="en-US" sz="2060" i="true" spc="20">
                <a:solidFill>
                  <a:srgbClr val="FFFFFF"/>
                </a:solidFill>
                <a:latin typeface="Arimo Italics"/>
                <a:ea typeface="Arimo Italics"/>
                <a:cs typeface="Arimo Italics"/>
                <a:sym typeface="Arimo Italics"/>
              </a:rPr>
              <a:t>Deep Learning - Nhận Diện Chữ Viết Tay | Trang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5158" y="-6571393"/>
            <a:ext cx="18938317" cy="9779058"/>
          </a:xfrm>
          <a:custGeom>
            <a:avLst/>
            <a:gdLst/>
            <a:ahLst/>
            <a:cxnLst/>
            <a:rect r="r" b="b" t="t" l="l"/>
            <a:pathLst>
              <a:path h="9779058" w="18938317">
                <a:moveTo>
                  <a:pt x="0" y="0"/>
                </a:moveTo>
                <a:lnTo>
                  <a:pt x="18938316" y="0"/>
                </a:lnTo>
                <a:lnTo>
                  <a:pt x="18938316" y="9779058"/>
                </a:lnTo>
                <a:lnTo>
                  <a:pt x="0" y="97790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9" id="9"/>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10" id="10"/>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1" id="11"/>
          <p:cNvGrpSpPr/>
          <p:nvPr/>
        </p:nvGrpSpPr>
        <p:grpSpPr>
          <a:xfrm rot="0">
            <a:off x="16259067" y="9197765"/>
            <a:ext cx="121069" cy="1210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3" id="13"/>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4" id="14"/>
          <p:cNvGrpSpPr/>
          <p:nvPr/>
        </p:nvGrpSpPr>
        <p:grpSpPr>
          <a:xfrm rot="0">
            <a:off x="1907864" y="968165"/>
            <a:ext cx="121069" cy="12106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6" id="16"/>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7" id="17"/>
          <p:cNvSpPr/>
          <p:nvPr/>
        </p:nvSpPr>
        <p:spPr>
          <a:xfrm flipH="false" flipV="false" rot="0">
            <a:off x="1362581" y="3136718"/>
            <a:ext cx="10243852" cy="1670117"/>
          </a:xfrm>
          <a:custGeom>
            <a:avLst/>
            <a:gdLst/>
            <a:ahLst/>
            <a:cxnLst/>
            <a:rect r="r" b="b" t="t" l="l"/>
            <a:pathLst>
              <a:path h="1670117" w="10243852">
                <a:moveTo>
                  <a:pt x="0" y="0"/>
                </a:moveTo>
                <a:lnTo>
                  <a:pt x="10243852" y="0"/>
                </a:lnTo>
                <a:lnTo>
                  <a:pt x="10243852" y="1670118"/>
                </a:lnTo>
                <a:lnTo>
                  <a:pt x="0" y="1670118"/>
                </a:lnTo>
                <a:lnTo>
                  <a:pt x="0" y="0"/>
                </a:lnTo>
                <a:close/>
              </a:path>
            </a:pathLst>
          </a:custGeom>
          <a:blipFill>
            <a:blip r:embed="rId9"/>
            <a:stretch>
              <a:fillRect l="-2018" t="0" r="-5054" b="-1119"/>
            </a:stretch>
          </a:blipFill>
        </p:spPr>
      </p:sp>
      <p:sp>
        <p:nvSpPr>
          <p:cNvPr name="Freeform 18" id="18"/>
          <p:cNvSpPr/>
          <p:nvPr/>
        </p:nvSpPr>
        <p:spPr>
          <a:xfrm flipH="false" flipV="false" rot="0">
            <a:off x="1747380" y="5261362"/>
            <a:ext cx="10243852" cy="1559651"/>
          </a:xfrm>
          <a:custGeom>
            <a:avLst/>
            <a:gdLst/>
            <a:ahLst/>
            <a:cxnLst/>
            <a:rect r="r" b="b" t="t" l="l"/>
            <a:pathLst>
              <a:path h="1559651" w="10243852">
                <a:moveTo>
                  <a:pt x="0" y="0"/>
                </a:moveTo>
                <a:lnTo>
                  <a:pt x="10243852" y="0"/>
                </a:lnTo>
                <a:lnTo>
                  <a:pt x="10243852" y="1559651"/>
                </a:lnTo>
                <a:lnTo>
                  <a:pt x="0" y="1559651"/>
                </a:lnTo>
                <a:lnTo>
                  <a:pt x="0" y="0"/>
                </a:lnTo>
                <a:close/>
              </a:path>
            </a:pathLst>
          </a:custGeom>
          <a:blipFill>
            <a:blip r:embed="rId10"/>
            <a:stretch>
              <a:fillRect l="0" t="0" r="-3251" b="0"/>
            </a:stretch>
          </a:blipFill>
        </p:spPr>
      </p:sp>
      <p:sp>
        <p:nvSpPr>
          <p:cNvPr name="TextBox 19" id="19"/>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
        <p:nvSpPr>
          <p:cNvPr name="TextBox 20" id="20"/>
          <p:cNvSpPr txBox="true"/>
          <p:nvPr/>
        </p:nvSpPr>
        <p:spPr>
          <a:xfrm rot="0">
            <a:off x="432342" y="1312403"/>
            <a:ext cx="6758643" cy="942975"/>
          </a:xfrm>
          <a:prstGeom prst="rect">
            <a:avLst/>
          </a:prstGeom>
        </p:spPr>
        <p:txBody>
          <a:bodyPr anchor="t" rtlCol="false" tIns="0" lIns="0" bIns="0" rIns="0">
            <a:spAutoFit/>
          </a:bodyPr>
          <a:lstStyle/>
          <a:p>
            <a:pPr algn="ctr">
              <a:lnSpc>
                <a:spcPts val="7206"/>
              </a:lnSpc>
              <a:spcBef>
                <a:spcPct val="0"/>
              </a:spcBef>
            </a:pPr>
            <a:r>
              <a:rPr lang="en-US" b="true" sz="6005" spc="60">
                <a:solidFill>
                  <a:srgbClr val="FFFFFF"/>
                </a:solidFill>
                <a:latin typeface="Arimo Bold"/>
                <a:ea typeface="Arimo Bold"/>
                <a:cs typeface="Arimo Bold"/>
                <a:sym typeface="Arimo Bold"/>
              </a:rPr>
              <a:t>DATASET </a:t>
            </a:r>
          </a:p>
        </p:txBody>
      </p:sp>
      <p:sp>
        <p:nvSpPr>
          <p:cNvPr name="TextBox 21" id="21"/>
          <p:cNvSpPr txBox="true"/>
          <p:nvPr/>
        </p:nvSpPr>
        <p:spPr>
          <a:xfrm rot="0">
            <a:off x="11606433" y="3198140"/>
            <a:ext cx="4082145" cy="95250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Thêm tệp dữ liệu MNIST từ thư viện Tensorflow.keras là tệp dữ liệu chủ yếu để nghiên cứu đề tài  </a:t>
            </a:r>
          </a:p>
        </p:txBody>
      </p:sp>
      <p:sp>
        <p:nvSpPr>
          <p:cNvPr name="TextBox 22" id="22"/>
          <p:cNvSpPr txBox="true"/>
          <p:nvPr/>
        </p:nvSpPr>
        <p:spPr>
          <a:xfrm rot="0">
            <a:off x="10521486" y="5230396"/>
            <a:ext cx="6252038" cy="2381250"/>
          </a:xfrm>
          <a:prstGeom prst="rect">
            <a:avLst/>
          </a:prstGeom>
        </p:spPr>
        <p:txBody>
          <a:bodyPr anchor="t" rtlCol="false" tIns="0" lIns="0" bIns="0" rIns="0">
            <a:spAutoFit/>
          </a:bodyPr>
          <a:lstStyle/>
          <a:p>
            <a:pPr algn="ctr">
              <a:lnSpc>
                <a:spcPts val="2361"/>
              </a:lnSpc>
            </a:pPr>
            <a:r>
              <a:rPr lang="en-US" sz="1967" spc="19">
                <a:solidFill>
                  <a:srgbClr val="FFFFFF"/>
                </a:solidFill>
                <a:latin typeface="Arimo"/>
                <a:ea typeface="Arimo"/>
                <a:cs typeface="Arimo"/>
                <a:sym typeface="Arimo"/>
              </a:rPr>
              <a:t>tệp dữ liệu được chia làm 2: </a:t>
            </a:r>
          </a:p>
          <a:p>
            <a:pPr algn="ctr" marL="424886" indent="-212443" lvl="1">
              <a:lnSpc>
                <a:spcPts val="2361"/>
              </a:lnSpc>
              <a:buAutoNum type="arabicPeriod" startAt="1"/>
            </a:pPr>
            <a:r>
              <a:rPr lang="en-US" sz="1967" spc="19">
                <a:solidFill>
                  <a:srgbClr val="FFFFFF"/>
                </a:solidFill>
                <a:latin typeface="Arimo"/>
                <a:ea typeface="Arimo"/>
                <a:cs typeface="Arimo"/>
                <a:sym typeface="Arimo"/>
              </a:rPr>
              <a:t>Tập train: dùng để train chính với 60000 mẫu, mỗi mẫu kích thước 28x28</a:t>
            </a:r>
          </a:p>
          <a:p>
            <a:pPr algn="ctr" marL="424886" indent="-212443" lvl="1">
              <a:lnSpc>
                <a:spcPts val="2361"/>
              </a:lnSpc>
              <a:buAutoNum type="arabicPeriod" startAt="1"/>
            </a:pPr>
            <a:r>
              <a:rPr lang="en-US" sz="1967" spc="19">
                <a:solidFill>
                  <a:srgbClr val="FFFFFF"/>
                </a:solidFill>
                <a:latin typeface="Arimo"/>
                <a:ea typeface="Arimo"/>
                <a:cs typeface="Arimo"/>
                <a:sym typeface="Arimo"/>
              </a:rPr>
              <a:t>Tập test: dùng để kiểm tra vào bước cuối, không dùng để train, chỉ dùng để kiểm tra, tránh  trường hợp overfitting</a:t>
            </a:r>
          </a:p>
          <a:p>
            <a:pPr algn="ctr">
              <a:lnSpc>
                <a:spcPts val="2361"/>
              </a:lnSpc>
            </a:pPr>
          </a:p>
          <a:p>
            <a:pPr algn="ctr">
              <a:lnSpc>
                <a:spcPts val="2361"/>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25158" y="7189497"/>
            <a:ext cx="18938317" cy="9779058"/>
          </a:xfrm>
          <a:custGeom>
            <a:avLst/>
            <a:gdLst/>
            <a:ahLst/>
            <a:cxnLst/>
            <a:rect r="r" b="b" t="t" l="l"/>
            <a:pathLst>
              <a:path h="9779058" w="18938317">
                <a:moveTo>
                  <a:pt x="0" y="9779059"/>
                </a:moveTo>
                <a:lnTo>
                  <a:pt x="18938316" y="9779059"/>
                </a:lnTo>
                <a:lnTo>
                  <a:pt x="18938316" y="0"/>
                </a:lnTo>
                <a:lnTo>
                  <a:pt x="0" y="0"/>
                </a:lnTo>
                <a:lnTo>
                  <a:pt x="0" y="977905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8" id="8"/>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9" id="9"/>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0" id="10"/>
          <p:cNvGrpSpPr/>
          <p:nvPr/>
        </p:nvGrpSpPr>
        <p:grpSpPr>
          <a:xfrm rot="0">
            <a:off x="16259067" y="9197765"/>
            <a:ext cx="121069" cy="1210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2" id="12"/>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3" id="13"/>
          <p:cNvGrpSpPr/>
          <p:nvPr/>
        </p:nvGrpSpPr>
        <p:grpSpPr>
          <a:xfrm rot="0">
            <a:off x="1907864" y="968165"/>
            <a:ext cx="121069" cy="12106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6" id="16"/>
          <p:cNvSpPr/>
          <p:nvPr/>
        </p:nvSpPr>
        <p:spPr>
          <a:xfrm flipH="false" flipV="false" rot="0">
            <a:off x="881254" y="2675354"/>
            <a:ext cx="15997535" cy="513406"/>
          </a:xfrm>
          <a:custGeom>
            <a:avLst/>
            <a:gdLst/>
            <a:ahLst/>
            <a:cxnLst/>
            <a:rect r="r" b="b" t="t" l="l"/>
            <a:pathLst>
              <a:path h="513406" w="15997535">
                <a:moveTo>
                  <a:pt x="0" y="0"/>
                </a:moveTo>
                <a:lnTo>
                  <a:pt x="15997535" y="0"/>
                </a:lnTo>
                <a:lnTo>
                  <a:pt x="15997535" y="513406"/>
                </a:lnTo>
                <a:lnTo>
                  <a:pt x="0" y="513406"/>
                </a:lnTo>
                <a:lnTo>
                  <a:pt x="0" y="0"/>
                </a:lnTo>
                <a:close/>
              </a:path>
            </a:pathLst>
          </a:custGeom>
          <a:blipFill>
            <a:blip r:embed="rId9"/>
            <a:stretch>
              <a:fillRect l="0" t="-6716" r="-2374" b="0"/>
            </a:stretch>
          </a:blipFill>
        </p:spPr>
      </p:sp>
      <p:sp>
        <p:nvSpPr>
          <p:cNvPr name="Freeform 17" id="17"/>
          <p:cNvSpPr/>
          <p:nvPr/>
        </p:nvSpPr>
        <p:spPr>
          <a:xfrm flipH="false" flipV="false" rot="0">
            <a:off x="880507" y="3436410"/>
            <a:ext cx="7394495" cy="3559097"/>
          </a:xfrm>
          <a:custGeom>
            <a:avLst/>
            <a:gdLst/>
            <a:ahLst/>
            <a:cxnLst/>
            <a:rect r="r" b="b" t="t" l="l"/>
            <a:pathLst>
              <a:path h="3559097" w="7394495">
                <a:moveTo>
                  <a:pt x="0" y="0"/>
                </a:moveTo>
                <a:lnTo>
                  <a:pt x="7394495" y="0"/>
                </a:lnTo>
                <a:lnTo>
                  <a:pt x="7394495" y="3559097"/>
                </a:lnTo>
                <a:lnTo>
                  <a:pt x="0" y="3559097"/>
                </a:lnTo>
                <a:lnTo>
                  <a:pt x="0" y="0"/>
                </a:lnTo>
                <a:close/>
              </a:path>
            </a:pathLst>
          </a:custGeom>
          <a:blipFill>
            <a:blip r:embed="rId10"/>
            <a:stretch>
              <a:fillRect l="0" t="0" r="0" b="-2788"/>
            </a:stretch>
          </a:blipFill>
        </p:spPr>
      </p:sp>
      <p:sp>
        <p:nvSpPr>
          <p:cNvPr name="Freeform 18" id="18"/>
          <p:cNvSpPr/>
          <p:nvPr/>
        </p:nvSpPr>
        <p:spPr>
          <a:xfrm flipH="false" flipV="false" rot="0">
            <a:off x="6906713" y="4359771"/>
            <a:ext cx="10097648" cy="2686852"/>
          </a:xfrm>
          <a:custGeom>
            <a:avLst/>
            <a:gdLst/>
            <a:ahLst/>
            <a:cxnLst/>
            <a:rect r="r" b="b" t="t" l="l"/>
            <a:pathLst>
              <a:path h="2686852" w="10097648">
                <a:moveTo>
                  <a:pt x="0" y="0"/>
                </a:moveTo>
                <a:lnTo>
                  <a:pt x="10097648" y="0"/>
                </a:lnTo>
                <a:lnTo>
                  <a:pt x="10097648" y="2686851"/>
                </a:lnTo>
                <a:lnTo>
                  <a:pt x="0" y="2686851"/>
                </a:lnTo>
                <a:lnTo>
                  <a:pt x="0" y="0"/>
                </a:lnTo>
                <a:close/>
              </a:path>
            </a:pathLst>
          </a:custGeom>
          <a:blipFill>
            <a:blip r:embed="rId11"/>
            <a:stretch>
              <a:fillRect l="0" t="-1029" r="-3285" b="0"/>
            </a:stretch>
          </a:blipFill>
        </p:spPr>
      </p:sp>
      <p:sp>
        <p:nvSpPr>
          <p:cNvPr name="TextBox 19" id="19"/>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
        <p:nvSpPr>
          <p:cNvPr name="TextBox 20" id="20"/>
          <p:cNvSpPr txBox="true"/>
          <p:nvPr/>
        </p:nvSpPr>
        <p:spPr>
          <a:xfrm rot="0">
            <a:off x="881254" y="1321928"/>
            <a:ext cx="14787496" cy="809625"/>
          </a:xfrm>
          <a:prstGeom prst="rect">
            <a:avLst/>
          </a:prstGeom>
        </p:spPr>
        <p:txBody>
          <a:bodyPr anchor="t" rtlCol="false" tIns="0" lIns="0" bIns="0" rIns="0">
            <a:spAutoFit/>
          </a:bodyPr>
          <a:lstStyle/>
          <a:p>
            <a:pPr algn="ctr">
              <a:lnSpc>
                <a:spcPts val="6246"/>
              </a:lnSpc>
              <a:spcBef>
                <a:spcPct val="0"/>
              </a:spcBef>
            </a:pPr>
            <a:r>
              <a:rPr lang="en-US" b="true" sz="5205" spc="52">
                <a:solidFill>
                  <a:srgbClr val="FFFFFF"/>
                </a:solidFill>
                <a:latin typeface="Arimo Bold"/>
                <a:ea typeface="Arimo Bold"/>
                <a:cs typeface="Arimo Bold"/>
                <a:sym typeface="Arimo Bold"/>
              </a:rPr>
              <a:t>TIỀN XỬ LÝ DỮ LIỆU (PROCESSING DATA)</a:t>
            </a:r>
          </a:p>
        </p:txBody>
      </p:sp>
      <p:sp>
        <p:nvSpPr>
          <p:cNvPr name="TextBox 21" id="21"/>
          <p:cNvSpPr txBox="true"/>
          <p:nvPr/>
        </p:nvSpPr>
        <p:spPr>
          <a:xfrm rot="0">
            <a:off x="932826" y="7332372"/>
            <a:ext cx="16326474" cy="781050"/>
          </a:xfrm>
          <a:prstGeom prst="rect">
            <a:avLst/>
          </a:prstGeom>
        </p:spPr>
        <p:txBody>
          <a:bodyPr anchor="t" rtlCol="false" tIns="0" lIns="0" bIns="0" rIns="0">
            <a:spAutoFit/>
          </a:bodyPr>
          <a:lstStyle/>
          <a:p>
            <a:pPr algn="l">
              <a:lnSpc>
                <a:spcPts val="3006"/>
              </a:lnSpc>
              <a:spcBef>
                <a:spcPct val="0"/>
              </a:spcBef>
            </a:pPr>
            <a:r>
              <a:rPr lang="en-US" sz="2505" spc="25">
                <a:solidFill>
                  <a:srgbClr val="FFFFFF"/>
                </a:solidFill>
                <a:latin typeface="Arimo"/>
                <a:ea typeface="Arimo"/>
                <a:cs typeface="Arimo"/>
                <a:sym typeface="Arimo"/>
              </a:rPr>
              <a:t>Giá trị -1  khi đưa vào tính toán chính là giá trị Batch_size được cài ở lúc chạy model, cụ thể giá trị trong bài là 128, nghĩa là 1 lần sẽ xử lý đồng thời 128 ảnh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8" id="8"/>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9" id="9"/>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0" id="10"/>
          <p:cNvGrpSpPr/>
          <p:nvPr/>
        </p:nvGrpSpPr>
        <p:grpSpPr>
          <a:xfrm rot="0">
            <a:off x="16259067" y="9197765"/>
            <a:ext cx="121069" cy="1210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2" id="12"/>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3" id="13"/>
          <p:cNvGrpSpPr/>
          <p:nvPr/>
        </p:nvGrpSpPr>
        <p:grpSpPr>
          <a:xfrm rot="0">
            <a:off x="1907864" y="968165"/>
            <a:ext cx="121069" cy="12106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6" id="16"/>
          <p:cNvSpPr/>
          <p:nvPr/>
        </p:nvSpPr>
        <p:spPr>
          <a:xfrm flipH="false" flipV="false" rot="0">
            <a:off x="793836" y="2675354"/>
            <a:ext cx="11564748" cy="1629756"/>
          </a:xfrm>
          <a:custGeom>
            <a:avLst/>
            <a:gdLst/>
            <a:ahLst/>
            <a:cxnLst/>
            <a:rect r="r" b="b" t="t" l="l"/>
            <a:pathLst>
              <a:path h="1629756" w="11564748">
                <a:moveTo>
                  <a:pt x="0" y="0"/>
                </a:moveTo>
                <a:lnTo>
                  <a:pt x="11564748" y="0"/>
                </a:lnTo>
                <a:lnTo>
                  <a:pt x="11564748" y="1629756"/>
                </a:lnTo>
                <a:lnTo>
                  <a:pt x="0" y="1629756"/>
                </a:lnTo>
                <a:lnTo>
                  <a:pt x="0" y="0"/>
                </a:lnTo>
                <a:close/>
              </a:path>
            </a:pathLst>
          </a:custGeom>
          <a:blipFill>
            <a:blip r:embed="rId9"/>
            <a:stretch>
              <a:fillRect l="0" t="0" r="0" b="0"/>
            </a:stretch>
          </a:blipFill>
        </p:spPr>
      </p:sp>
      <p:sp>
        <p:nvSpPr>
          <p:cNvPr name="Freeform 17" id="17"/>
          <p:cNvSpPr/>
          <p:nvPr/>
        </p:nvSpPr>
        <p:spPr>
          <a:xfrm flipH="false" flipV="false" rot="0">
            <a:off x="793836" y="5133723"/>
            <a:ext cx="17209937" cy="1680482"/>
          </a:xfrm>
          <a:custGeom>
            <a:avLst/>
            <a:gdLst/>
            <a:ahLst/>
            <a:cxnLst/>
            <a:rect r="r" b="b" t="t" l="l"/>
            <a:pathLst>
              <a:path h="1680482" w="17209937">
                <a:moveTo>
                  <a:pt x="0" y="0"/>
                </a:moveTo>
                <a:lnTo>
                  <a:pt x="17209936" y="0"/>
                </a:lnTo>
                <a:lnTo>
                  <a:pt x="17209936" y="1680482"/>
                </a:lnTo>
                <a:lnTo>
                  <a:pt x="0" y="1680482"/>
                </a:lnTo>
                <a:lnTo>
                  <a:pt x="0" y="0"/>
                </a:lnTo>
                <a:close/>
              </a:path>
            </a:pathLst>
          </a:custGeom>
          <a:blipFill>
            <a:blip r:embed="rId10"/>
            <a:stretch>
              <a:fillRect l="0" t="0" r="0" b="0"/>
            </a:stretch>
          </a:blipFill>
        </p:spPr>
      </p:sp>
      <p:sp>
        <p:nvSpPr>
          <p:cNvPr name="TextBox 18" id="18"/>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05324" y="6116391"/>
            <a:ext cx="18938317" cy="9779058"/>
          </a:xfrm>
          <a:custGeom>
            <a:avLst/>
            <a:gdLst/>
            <a:ahLst/>
            <a:cxnLst/>
            <a:rect r="r" b="b" t="t" l="l"/>
            <a:pathLst>
              <a:path h="9779058" w="18938317">
                <a:moveTo>
                  <a:pt x="0" y="9779058"/>
                </a:moveTo>
                <a:lnTo>
                  <a:pt x="18938317" y="9779058"/>
                </a:lnTo>
                <a:lnTo>
                  <a:pt x="18938317"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540332" y="222855"/>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8" id="8"/>
          <p:cNvSpPr/>
          <p:nvPr/>
        </p:nvSpPr>
        <p:spPr>
          <a:xfrm flipV="true">
            <a:off x="2028933" y="1049188"/>
            <a:ext cx="9412889" cy="0"/>
          </a:xfrm>
          <a:prstGeom prst="line">
            <a:avLst/>
          </a:prstGeom>
          <a:ln cap="flat" w="19050">
            <a:solidFill>
              <a:srgbClr val="86EDFF"/>
            </a:solidFill>
            <a:prstDash val="solid"/>
            <a:headEnd type="none" len="sm" w="sm"/>
            <a:tailEnd type="none" len="sm" w="sm"/>
          </a:ln>
        </p:spPr>
      </p:sp>
      <p:sp>
        <p:nvSpPr>
          <p:cNvPr name="AutoShape 9" id="9"/>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0" id="10"/>
          <p:cNvGrpSpPr/>
          <p:nvPr/>
        </p:nvGrpSpPr>
        <p:grpSpPr>
          <a:xfrm rot="0">
            <a:off x="16259067" y="9197765"/>
            <a:ext cx="121069" cy="1210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2" id="12"/>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3" id="13"/>
          <p:cNvGrpSpPr/>
          <p:nvPr/>
        </p:nvGrpSpPr>
        <p:grpSpPr>
          <a:xfrm rot="0">
            <a:off x="1907864" y="968165"/>
            <a:ext cx="121069" cy="12106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6" id="16"/>
          <p:cNvSpPr/>
          <p:nvPr/>
        </p:nvSpPr>
        <p:spPr>
          <a:xfrm flipH="false" flipV="false" rot="0">
            <a:off x="869290" y="2487463"/>
            <a:ext cx="6037423" cy="1810703"/>
          </a:xfrm>
          <a:custGeom>
            <a:avLst/>
            <a:gdLst/>
            <a:ahLst/>
            <a:cxnLst/>
            <a:rect r="r" b="b" t="t" l="l"/>
            <a:pathLst>
              <a:path h="1810703" w="6037423">
                <a:moveTo>
                  <a:pt x="0" y="0"/>
                </a:moveTo>
                <a:lnTo>
                  <a:pt x="6037423" y="0"/>
                </a:lnTo>
                <a:lnTo>
                  <a:pt x="6037423" y="1810703"/>
                </a:lnTo>
                <a:lnTo>
                  <a:pt x="0" y="1810703"/>
                </a:lnTo>
                <a:lnTo>
                  <a:pt x="0" y="0"/>
                </a:lnTo>
                <a:close/>
              </a:path>
            </a:pathLst>
          </a:custGeom>
          <a:blipFill>
            <a:blip r:embed="rId9"/>
            <a:stretch>
              <a:fillRect l="0" t="-1655" r="0" b="0"/>
            </a:stretch>
          </a:blipFill>
        </p:spPr>
      </p:sp>
      <p:sp>
        <p:nvSpPr>
          <p:cNvPr name="Freeform 17" id="17"/>
          <p:cNvSpPr/>
          <p:nvPr/>
        </p:nvSpPr>
        <p:spPr>
          <a:xfrm flipH="false" flipV="false" rot="0">
            <a:off x="6119454" y="3338995"/>
            <a:ext cx="11139846" cy="959171"/>
          </a:xfrm>
          <a:custGeom>
            <a:avLst/>
            <a:gdLst/>
            <a:ahLst/>
            <a:cxnLst/>
            <a:rect r="r" b="b" t="t" l="l"/>
            <a:pathLst>
              <a:path h="959171" w="11139846">
                <a:moveTo>
                  <a:pt x="0" y="0"/>
                </a:moveTo>
                <a:lnTo>
                  <a:pt x="11139846" y="0"/>
                </a:lnTo>
                <a:lnTo>
                  <a:pt x="11139846" y="959171"/>
                </a:lnTo>
                <a:lnTo>
                  <a:pt x="0" y="959171"/>
                </a:lnTo>
                <a:lnTo>
                  <a:pt x="0" y="0"/>
                </a:lnTo>
                <a:close/>
              </a:path>
            </a:pathLst>
          </a:custGeom>
          <a:blipFill>
            <a:blip r:embed="rId10"/>
            <a:stretch>
              <a:fillRect l="0" t="0" r="0" b="0"/>
            </a:stretch>
          </a:blipFill>
        </p:spPr>
      </p:sp>
      <p:sp>
        <p:nvSpPr>
          <p:cNvPr name="Freeform 18" id="18"/>
          <p:cNvSpPr/>
          <p:nvPr/>
        </p:nvSpPr>
        <p:spPr>
          <a:xfrm flipH="false" flipV="false" rot="0">
            <a:off x="869290" y="4121188"/>
            <a:ext cx="7337234" cy="3604639"/>
          </a:xfrm>
          <a:custGeom>
            <a:avLst/>
            <a:gdLst/>
            <a:ahLst/>
            <a:cxnLst/>
            <a:rect r="r" b="b" t="t" l="l"/>
            <a:pathLst>
              <a:path h="3604639" w="7337234">
                <a:moveTo>
                  <a:pt x="0" y="0"/>
                </a:moveTo>
                <a:lnTo>
                  <a:pt x="7337235" y="0"/>
                </a:lnTo>
                <a:lnTo>
                  <a:pt x="7337235" y="3604639"/>
                </a:lnTo>
                <a:lnTo>
                  <a:pt x="0" y="3604639"/>
                </a:lnTo>
                <a:lnTo>
                  <a:pt x="0" y="0"/>
                </a:lnTo>
                <a:close/>
              </a:path>
            </a:pathLst>
          </a:custGeom>
          <a:blipFill>
            <a:blip r:embed="rId11"/>
            <a:stretch>
              <a:fillRect l="0" t="0" r="-75223" b="0"/>
            </a:stretch>
          </a:blipFill>
        </p:spPr>
      </p:sp>
      <p:sp>
        <p:nvSpPr>
          <p:cNvPr name="TextBox 19" id="19"/>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
        <p:nvSpPr>
          <p:cNvPr name="TextBox 20" id="20"/>
          <p:cNvSpPr txBox="true"/>
          <p:nvPr/>
        </p:nvSpPr>
        <p:spPr>
          <a:xfrm rot="0">
            <a:off x="11887149" y="4542863"/>
            <a:ext cx="9525" cy="323850"/>
          </a:xfrm>
          <a:prstGeom prst="rect">
            <a:avLst/>
          </a:prstGeom>
        </p:spPr>
        <p:txBody>
          <a:bodyPr anchor="t" rtlCol="false" tIns="0" lIns="0" bIns="0" rIns="0">
            <a:spAutoFit/>
          </a:bodyPr>
          <a:lstStyle/>
          <a:p>
            <a:pPr algn="ctr">
              <a:lnSpc>
                <a:spcPts val="2526"/>
              </a:lnSpc>
              <a:spcBef>
                <a:spcPct val="0"/>
              </a:spcBef>
            </a:pPr>
          </a:p>
        </p:txBody>
      </p:sp>
      <p:sp>
        <p:nvSpPr>
          <p:cNvPr name="TextBox 21" id="21"/>
          <p:cNvSpPr txBox="true"/>
          <p:nvPr/>
        </p:nvSpPr>
        <p:spPr>
          <a:xfrm rot="0">
            <a:off x="5261105" y="4542863"/>
            <a:ext cx="12856544" cy="323850"/>
          </a:xfrm>
          <a:prstGeom prst="rect">
            <a:avLst/>
          </a:prstGeom>
        </p:spPr>
        <p:txBody>
          <a:bodyPr anchor="t" rtlCol="false" tIns="0" lIns="0" bIns="0" rIns="0">
            <a:spAutoFit/>
          </a:bodyPr>
          <a:lstStyle/>
          <a:p>
            <a:pPr algn="ctr">
              <a:lnSpc>
                <a:spcPts val="2526"/>
              </a:lnSpc>
              <a:spcBef>
                <a:spcPct val="0"/>
              </a:spcBef>
            </a:pPr>
            <a:r>
              <a:rPr lang="en-US" sz="2105" i="true" spc="21">
                <a:solidFill>
                  <a:srgbClr val="FFFFFF"/>
                </a:solidFill>
                <a:latin typeface="Arimo Italics"/>
                <a:ea typeface="Arimo Italics"/>
                <a:cs typeface="Arimo Italics"/>
                <a:sym typeface="Arimo Italics"/>
              </a:rPr>
              <a:t>8 lớp filter, với kích thước nhân 3x3, hàm kích hoạt relu *</a:t>
            </a:r>
          </a:p>
        </p:txBody>
      </p:sp>
      <p:sp>
        <p:nvSpPr>
          <p:cNvPr name="TextBox 22" id="22"/>
          <p:cNvSpPr txBox="true"/>
          <p:nvPr/>
        </p:nvSpPr>
        <p:spPr>
          <a:xfrm rot="0">
            <a:off x="5468402" y="6304988"/>
            <a:ext cx="12856544" cy="323850"/>
          </a:xfrm>
          <a:prstGeom prst="rect">
            <a:avLst/>
          </a:prstGeom>
        </p:spPr>
        <p:txBody>
          <a:bodyPr anchor="t" rtlCol="false" tIns="0" lIns="0" bIns="0" rIns="0">
            <a:spAutoFit/>
          </a:bodyPr>
          <a:lstStyle/>
          <a:p>
            <a:pPr algn="ctr">
              <a:lnSpc>
                <a:spcPts val="2526"/>
              </a:lnSpc>
              <a:spcBef>
                <a:spcPct val="0"/>
              </a:spcBef>
            </a:pPr>
            <a:r>
              <a:rPr lang="en-US" sz="2105" i="true" spc="21">
                <a:solidFill>
                  <a:srgbClr val="FFFFFF"/>
                </a:solidFill>
                <a:latin typeface="Arimo Italics"/>
                <a:ea typeface="Arimo Italics"/>
                <a:cs typeface="Arimo Italics"/>
                <a:sym typeface="Arimo Italics"/>
              </a:rPr>
              <a:t>16 lớp filter, với kích thước nhân 3x3, hàm kích hoạt relu *</a:t>
            </a:r>
          </a:p>
        </p:txBody>
      </p:sp>
      <p:sp>
        <p:nvSpPr>
          <p:cNvPr name="TextBox 23" id="23"/>
          <p:cNvSpPr txBox="true"/>
          <p:nvPr/>
        </p:nvSpPr>
        <p:spPr>
          <a:xfrm rot="0">
            <a:off x="869290" y="7963952"/>
            <a:ext cx="16156804" cy="857250"/>
          </a:xfrm>
          <a:prstGeom prst="rect">
            <a:avLst/>
          </a:prstGeom>
        </p:spPr>
        <p:txBody>
          <a:bodyPr anchor="t" rtlCol="false" tIns="0" lIns="0" bIns="0" rIns="0">
            <a:spAutoFit/>
          </a:bodyPr>
          <a:lstStyle/>
          <a:p>
            <a:pPr algn="l">
              <a:lnSpc>
                <a:spcPts val="3366"/>
              </a:lnSpc>
              <a:spcBef>
                <a:spcPct val="0"/>
              </a:spcBef>
            </a:pPr>
            <a:r>
              <a:rPr lang="en-US" sz="2805" spc="28">
                <a:solidFill>
                  <a:srgbClr val="FFDE59"/>
                </a:solidFill>
                <a:latin typeface="Arimo"/>
                <a:ea typeface="Arimo"/>
                <a:cs typeface="Arimo"/>
                <a:sym typeface="Arimo"/>
              </a:rPr>
              <a:t>Ở</a:t>
            </a:r>
            <a:r>
              <a:rPr lang="en-US" sz="2805" spc="28">
                <a:solidFill>
                  <a:srgbClr val="FFDE59"/>
                </a:solidFill>
                <a:latin typeface="Arimo"/>
                <a:ea typeface="Arimo"/>
                <a:cs typeface="Arimo"/>
                <a:sym typeface="Arimo"/>
              </a:rPr>
              <a:t> cụm này, công việc chính là thực hiện  quét và nhân, sau đó tối ưu rồi tìm các giá trị điểm ảnh lớn để giữ lại sau khi pooling</a:t>
            </a:r>
          </a:p>
        </p:txBody>
      </p:sp>
      <p:sp>
        <p:nvSpPr>
          <p:cNvPr name="TextBox 24" id="24"/>
          <p:cNvSpPr txBox="true"/>
          <p:nvPr/>
        </p:nvSpPr>
        <p:spPr>
          <a:xfrm rot="0">
            <a:off x="5570980" y="5324865"/>
            <a:ext cx="5535573"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giảm điểm ảnh, giúp AI nhận dạng nhanh hơn</a:t>
            </a:r>
          </a:p>
        </p:txBody>
      </p:sp>
      <p:sp>
        <p:nvSpPr>
          <p:cNvPr name="TextBox 25" id="25"/>
          <p:cNvSpPr txBox="true"/>
          <p:nvPr/>
        </p:nvSpPr>
        <p:spPr>
          <a:xfrm rot="0">
            <a:off x="1367479" y="1115863"/>
            <a:ext cx="8407003" cy="685800"/>
          </a:xfrm>
          <a:prstGeom prst="rect">
            <a:avLst/>
          </a:prstGeom>
        </p:spPr>
        <p:txBody>
          <a:bodyPr anchor="t" rtlCol="false" tIns="0" lIns="0" bIns="0" rIns="0">
            <a:spAutoFit/>
          </a:bodyPr>
          <a:lstStyle/>
          <a:p>
            <a:pPr algn="ctr">
              <a:lnSpc>
                <a:spcPts val="5279"/>
              </a:lnSpc>
              <a:spcBef>
                <a:spcPct val="0"/>
              </a:spcBef>
            </a:pPr>
            <a:r>
              <a:rPr lang="en-US" b="true" sz="4399" spc="43">
                <a:solidFill>
                  <a:srgbClr val="FFFFFF"/>
                </a:solidFill>
                <a:latin typeface="Arimo Bold"/>
                <a:ea typeface="Arimo Bold"/>
                <a:cs typeface="Arimo Bold"/>
                <a:sym typeface="Arimo Bold"/>
              </a:rPr>
              <a:t>CNN BUILDING AND TRAINING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260771" y="0"/>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8" id="8"/>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9" id="9"/>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0" id="10"/>
          <p:cNvGrpSpPr/>
          <p:nvPr/>
        </p:nvGrpSpPr>
        <p:grpSpPr>
          <a:xfrm rot="0">
            <a:off x="16259067" y="9197765"/>
            <a:ext cx="121069" cy="1210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2" id="12"/>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3" id="13"/>
          <p:cNvGrpSpPr/>
          <p:nvPr/>
        </p:nvGrpSpPr>
        <p:grpSpPr>
          <a:xfrm rot="0">
            <a:off x="1907864" y="968165"/>
            <a:ext cx="121069" cy="12106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6" id="16"/>
          <p:cNvSpPr/>
          <p:nvPr/>
        </p:nvSpPr>
        <p:spPr>
          <a:xfrm flipH="false" flipV="false" rot="0">
            <a:off x="540332" y="2248714"/>
            <a:ext cx="8184230" cy="3055235"/>
          </a:xfrm>
          <a:custGeom>
            <a:avLst/>
            <a:gdLst/>
            <a:ahLst/>
            <a:cxnLst/>
            <a:rect r="r" b="b" t="t" l="l"/>
            <a:pathLst>
              <a:path h="3055235" w="8184230">
                <a:moveTo>
                  <a:pt x="0" y="0"/>
                </a:moveTo>
                <a:lnTo>
                  <a:pt x="8184231" y="0"/>
                </a:lnTo>
                <a:lnTo>
                  <a:pt x="8184231" y="3055235"/>
                </a:lnTo>
                <a:lnTo>
                  <a:pt x="0" y="3055235"/>
                </a:lnTo>
                <a:lnTo>
                  <a:pt x="0" y="0"/>
                </a:lnTo>
                <a:close/>
              </a:path>
            </a:pathLst>
          </a:custGeom>
          <a:blipFill>
            <a:blip r:embed="rId9"/>
            <a:stretch>
              <a:fillRect l="0" t="0" r="0" b="0"/>
            </a:stretch>
          </a:blipFill>
        </p:spPr>
      </p:sp>
      <p:sp>
        <p:nvSpPr>
          <p:cNvPr name="Freeform 17" id="17"/>
          <p:cNvSpPr/>
          <p:nvPr/>
        </p:nvSpPr>
        <p:spPr>
          <a:xfrm flipH="false" flipV="false" rot="0">
            <a:off x="540332" y="5111413"/>
            <a:ext cx="5876894" cy="3409495"/>
          </a:xfrm>
          <a:custGeom>
            <a:avLst/>
            <a:gdLst/>
            <a:ahLst/>
            <a:cxnLst/>
            <a:rect r="r" b="b" t="t" l="l"/>
            <a:pathLst>
              <a:path h="3409495" w="5876894">
                <a:moveTo>
                  <a:pt x="0" y="0"/>
                </a:moveTo>
                <a:lnTo>
                  <a:pt x="5876894" y="0"/>
                </a:lnTo>
                <a:lnTo>
                  <a:pt x="5876894" y="3409496"/>
                </a:lnTo>
                <a:lnTo>
                  <a:pt x="0" y="3409496"/>
                </a:lnTo>
                <a:lnTo>
                  <a:pt x="0" y="0"/>
                </a:lnTo>
                <a:close/>
              </a:path>
            </a:pathLst>
          </a:custGeom>
          <a:blipFill>
            <a:blip r:embed="rId10"/>
            <a:stretch>
              <a:fillRect l="0" t="0" r="0" b="0"/>
            </a:stretch>
          </a:blipFill>
        </p:spPr>
      </p:sp>
      <p:sp>
        <p:nvSpPr>
          <p:cNvPr name="TextBox 18" id="18"/>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
        <p:nvSpPr>
          <p:cNvPr name="TextBox 19" id="19"/>
          <p:cNvSpPr txBox="true"/>
          <p:nvPr/>
        </p:nvSpPr>
        <p:spPr>
          <a:xfrm rot="0">
            <a:off x="2350806" y="2816061"/>
            <a:ext cx="13306826"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làm phẳng từ lớp 3D(28,28,1) thành 1D để các filter phía sau lớp Dense đều có thể đoc và tổng hợp  </a:t>
            </a:r>
          </a:p>
        </p:txBody>
      </p:sp>
      <p:sp>
        <p:nvSpPr>
          <p:cNvPr name="TextBox 20" id="20"/>
          <p:cNvSpPr txBox="true"/>
          <p:nvPr/>
        </p:nvSpPr>
        <p:spPr>
          <a:xfrm rot="0">
            <a:off x="3333900" y="3590925"/>
            <a:ext cx="9600367"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ngẫu nhiên loại bỏ 25% nơ ron trong mỗi epoch để tránh phụ thuộc vào tiểu tiết</a:t>
            </a:r>
          </a:p>
        </p:txBody>
      </p:sp>
      <p:sp>
        <p:nvSpPr>
          <p:cNvPr name="TextBox 21" id="21"/>
          <p:cNvSpPr txBox="true"/>
          <p:nvPr/>
        </p:nvSpPr>
        <p:spPr>
          <a:xfrm rot="0">
            <a:off x="5848512" y="4362450"/>
            <a:ext cx="11065550"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hàm tổng hợp, đưa ra quyết định, kèm hàm kích hoạt softmax giúp phân tỉ lệ chính xác hơn</a:t>
            </a:r>
          </a:p>
        </p:txBody>
      </p:sp>
      <p:sp>
        <p:nvSpPr>
          <p:cNvPr name="TextBox 22" id="22"/>
          <p:cNvSpPr txBox="true"/>
          <p:nvPr/>
        </p:nvSpPr>
        <p:spPr>
          <a:xfrm rot="0">
            <a:off x="864295" y="5947192"/>
            <a:ext cx="8102400"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hàm tối ưu hóa</a:t>
            </a:r>
          </a:p>
        </p:txBody>
      </p:sp>
      <p:sp>
        <p:nvSpPr>
          <p:cNvPr name="TextBox 23" id="23"/>
          <p:cNvSpPr txBox="true"/>
          <p:nvPr/>
        </p:nvSpPr>
        <p:spPr>
          <a:xfrm rot="0">
            <a:off x="6089450" y="6337717"/>
            <a:ext cx="2914769"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hàm tính chỉ số mất mát</a:t>
            </a:r>
          </a:p>
        </p:txBody>
      </p:sp>
      <p:sp>
        <p:nvSpPr>
          <p:cNvPr name="TextBox 24" id="24"/>
          <p:cNvSpPr txBox="true"/>
          <p:nvPr/>
        </p:nvSpPr>
        <p:spPr>
          <a:xfrm rot="0">
            <a:off x="4504892" y="6723479"/>
            <a:ext cx="2687241"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h</a:t>
            </a:r>
            <a:r>
              <a:rPr lang="en-US" sz="2105" spc="21">
                <a:solidFill>
                  <a:srgbClr val="FFFFFF"/>
                </a:solidFill>
                <a:latin typeface="Arimo"/>
                <a:ea typeface="Arimo"/>
                <a:cs typeface="Arimo"/>
                <a:sym typeface="Arimo"/>
              </a:rPr>
              <a:t>àm tính độ chính xác</a:t>
            </a:r>
          </a:p>
        </p:txBody>
      </p:sp>
      <p:sp>
        <p:nvSpPr>
          <p:cNvPr name="TextBox 25" id="25"/>
          <p:cNvSpPr txBox="true"/>
          <p:nvPr/>
        </p:nvSpPr>
        <p:spPr>
          <a:xfrm rot="0">
            <a:off x="3081353" y="8048699"/>
            <a:ext cx="1907619" cy="323850"/>
          </a:xfrm>
          <a:prstGeom prst="rect">
            <a:avLst/>
          </a:prstGeom>
        </p:spPr>
        <p:txBody>
          <a:bodyPr anchor="t" rtlCol="false" tIns="0" lIns="0" bIns="0" rIns="0">
            <a:spAutoFit/>
          </a:bodyPr>
          <a:lstStyle/>
          <a:p>
            <a:pPr algn="ctr">
              <a:lnSpc>
                <a:spcPts val="2526"/>
              </a:lnSpc>
              <a:spcBef>
                <a:spcPct val="0"/>
              </a:spcBef>
            </a:pPr>
            <a:r>
              <a:rPr lang="en-US" sz="2105" spc="21">
                <a:solidFill>
                  <a:srgbClr val="FFFFFF"/>
                </a:solidFill>
                <a:latin typeface="Arimo"/>
                <a:ea typeface="Arimo"/>
                <a:cs typeface="Arimo"/>
                <a:sym typeface="Arimo"/>
              </a:rPr>
              <a:t>t</a:t>
            </a:r>
            <a:r>
              <a:rPr lang="en-US" sz="2105" spc="21">
                <a:solidFill>
                  <a:srgbClr val="FFFFFF"/>
                </a:solidFill>
                <a:latin typeface="Arimo"/>
                <a:ea typeface="Arimo"/>
                <a:cs typeface="Arimo"/>
                <a:sym typeface="Arimo"/>
              </a:rPr>
              <a:t>ổng hợp model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8" id="8"/>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9" id="9"/>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0" id="10"/>
          <p:cNvGrpSpPr/>
          <p:nvPr/>
        </p:nvGrpSpPr>
        <p:grpSpPr>
          <a:xfrm rot="0">
            <a:off x="16259067" y="9197765"/>
            <a:ext cx="121069" cy="1210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2" id="12"/>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3" id="13"/>
          <p:cNvGrpSpPr/>
          <p:nvPr/>
        </p:nvGrpSpPr>
        <p:grpSpPr>
          <a:xfrm rot="0">
            <a:off x="1907864" y="968165"/>
            <a:ext cx="121069" cy="12106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6" id="16"/>
          <p:cNvSpPr/>
          <p:nvPr/>
        </p:nvSpPr>
        <p:spPr>
          <a:xfrm flipH="false" flipV="false" rot="0">
            <a:off x="540332" y="1089235"/>
            <a:ext cx="8317337" cy="8020794"/>
          </a:xfrm>
          <a:custGeom>
            <a:avLst/>
            <a:gdLst/>
            <a:ahLst/>
            <a:cxnLst/>
            <a:rect r="r" b="b" t="t" l="l"/>
            <a:pathLst>
              <a:path h="8020794" w="8317337">
                <a:moveTo>
                  <a:pt x="0" y="0"/>
                </a:moveTo>
                <a:lnTo>
                  <a:pt x="8317337" y="0"/>
                </a:lnTo>
                <a:lnTo>
                  <a:pt x="8317337" y="8020793"/>
                </a:lnTo>
                <a:lnTo>
                  <a:pt x="0" y="8020793"/>
                </a:lnTo>
                <a:lnTo>
                  <a:pt x="0" y="0"/>
                </a:lnTo>
                <a:close/>
              </a:path>
            </a:pathLst>
          </a:custGeom>
          <a:blipFill>
            <a:blip r:embed="rId9"/>
            <a:stretch>
              <a:fillRect l="0" t="0" r="0" b="0"/>
            </a:stretch>
          </a:blipFill>
        </p:spPr>
      </p:sp>
      <p:sp>
        <p:nvSpPr>
          <p:cNvPr name="TextBox 17" id="17"/>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
        <p:nvSpPr>
          <p:cNvPr name="TextBox 18" id="18"/>
          <p:cNvSpPr txBox="true"/>
          <p:nvPr/>
        </p:nvSpPr>
        <p:spPr>
          <a:xfrm rot="0">
            <a:off x="8597216" y="1393325"/>
            <a:ext cx="9338343" cy="438150"/>
          </a:xfrm>
          <a:prstGeom prst="rect">
            <a:avLst/>
          </a:prstGeom>
        </p:spPr>
        <p:txBody>
          <a:bodyPr anchor="t" rtlCol="false" tIns="0" lIns="0" bIns="0" rIns="0">
            <a:spAutoFit/>
          </a:bodyPr>
          <a:lstStyle/>
          <a:p>
            <a:pPr algn="ctr">
              <a:lnSpc>
                <a:spcPts val="3366"/>
              </a:lnSpc>
              <a:spcBef>
                <a:spcPct val="0"/>
              </a:spcBef>
            </a:pPr>
            <a:r>
              <a:rPr lang="en-US" b="true" sz="2805" spc="28">
                <a:solidFill>
                  <a:srgbClr val="FFFFFF"/>
                </a:solidFill>
                <a:latin typeface="Arimo Bold"/>
                <a:ea typeface="Arimo Bold"/>
                <a:cs typeface="Arimo Bold"/>
                <a:sym typeface="Arimo Bold"/>
              </a:rPr>
              <a:t>PHÂN TÍCH CÁC CHỈ SỐ PARAM CỦA TỪNG BƯỚC</a:t>
            </a:r>
          </a:p>
        </p:txBody>
      </p:sp>
      <p:sp>
        <p:nvSpPr>
          <p:cNvPr name="TextBox 19" id="19"/>
          <p:cNvSpPr txBox="true"/>
          <p:nvPr/>
        </p:nvSpPr>
        <p:spPr>
          <a:xfrm rot="0">
            <a:off x="8884002" y="1947064"/>
            <a:ext cx="8260142" cy="6924675"/>
          </a:xfrm>
          <a:prstGeom prst="rect">
            <a:avLst/>
          </a:prstGeom>
        </p:spPr>
        <p:txBody>
          <a:bodyPr anchor="t" rtlCol="false" tIns="0" lIns="0" bIns="0" rIns="0">
            <a:spAutoFit/>
          </a:bodyPr>
          <a:lstStyle/>
          <a:p>
            <a:pPr algn="l" marL="454591" indent="-227296" lvl="1">
              <a:lnSpc>
                <a:spcPts val="2526"/>
              </a:lnSpc>
              <a:buAutoNum type="arabicPeriod" startAt="1"/>
            </a:pPr>
            <a:r>
              <a:rPr lang="en-US" sz="2105" spc="21">
                <a:solidFill>
                  <a:srgbClr val="FFFFFF"/>
                </a:solidFill>
                <a:latin typeface="Arimo"/>
                <a:ea typeface="Arimo"/>
                <a:cs typeface="Arimo"/>
                <a:sym typeface="Arimo"/>
              </a:rPr>
              <a:t>Tại lớp conv2D đầu: 80  là cần học 72 trọng số để có thể xác định được 8 filter của phần này+ thêm 8 giá trị bias riêng biệt để làm ngưỡng kích hoạt của từng lớp. </a:t>
            </a:r>
          </a:p>
          <a:p>
            <a:pPr algn="l" marL="454591" indent="-227296" lvl="1">
              <a:lnSpc>
                <a:spcPts val="2526"/>
              </a:lnSpc>
              <a:buAutoNum type="arabicPeriod" startAt="1"/>
            </a:pPr>
            <a:r>
              <a:rPr lang="en-US" sz="2105" spc="21">
                <a:solidFill>
                  <a:srgbClr val="FFFFFF"/>
                </a:solidFill>
                <a:latin typeface="Arimo"/>
                <a:ea typeface="Arimo"/>
                <a:cs typeface="Arimo"/>
                <a:sym typeface="Arimo"/>
              </a:rPr>
              <a:t>Tại lớp thứ 2: 1168: bây giờ kích thước đầu vào là 8 lớp nên (3x3x8+1)x16=1168 nghĩa là cần học 1152 trọng số và 16 bias</a:t>
            </a:r>
          </a:p>
          <a:p>
            <a:pPr algn="l" marL="454591" indent="-227296" lvl="1">
              <a:lnSpc>
                <a:spcPts val="2526"/>
              </a:lnSpc>
              <a:buAutoNum type="arabicPeriod" startAt="1"/>
            </a:pPr>
            <a:r>
              <a:rPr lang="en-US" sz="2105" spc="21">
                <a:solidFill>
                  <a:srgbClr val="FFFFFF"/>
                </a:solidFill>
                <a:latin typeface="Arimo"/>
                <a:ea typeface="Arimo"/>
                <a:cs typeface="Arimo"/>
                <a:sym typeface="Arimo"/>
              </a:rPr>
              <a:t>ở lớp batch_normalization đầu tiên: 32: mỗi lớp filter lưu trữ 4 thông số là độ co giãn, phương sai, độ dịch chuyển và giá trị trung bình của lớp, góp phần tối ưu, chuẩn hóa về 1 thang đo</a:t>
            </a:r>
          </a:p>
          <a:p>
            <a:pPr algn="l" marL="454591" indent="-227296" lvl="1">
              <a:lnSpc>
                <a:spcPts val="2526"/>
              </a:lnSpc>
              <a:buAutoNum type="arabicPeriod" startAt="1"/>
            </a:pPr>
            <a:r>
              <a:rPr lang="en-US" sz="2105" spc="21">
                <a:solidFill>
                  <a:srgbClr val="FFFFFF"/>
                </a:solidFill>
                <a:latin typeface="Arimo"/>
                <a:ea typeface="Arimo"/>
                <a:cs typeface="Arimo"/>
                <a:sym typeface="Arimo"/>
              </a:rPr>
              <a:t>tại lớp thứ 2: 64: gấp đôi lớp filter nên chỉ số param cũng gấp đôi</a:t>
            </a:r>
          </a:p>
          <a:p>
            <a:pPr algn="l" marL="454591" indent="-227296" lvl="1">
              <a:lnSpc>
                <a:spcPts val="2526"/>
              </a:lnSpc>
              <a:buAutoNum type="arabicPeriod" startAt="1"/>
            </a:pPr>
            <a:r>
              <a:rPr lang="en-US" sz="2105" spc="21">
                <a:solidFill>
                  <a:srgbClr val="FFFFFF"/>
                </a:solidFill>
                <a:latin typeface="Arimo"/>
                <a:ea typeface="Arimo"/>
                <a:cs typeface="Arimo"/>
                <a:sym typeface="Arimo"/>
              </a:rPr>
              <a:t>max_pooling: 0: chỉ so sánh các giá trị nên k có trọng số phải học nên param =0</a:t>
            </a:r>
          </a:p>
          <a:p>
            <a:pPr algn="l" marL="454591" indent="-227296" lvl="1">
              <a:lnSpc>
                <a:spcPts val="2526"/>
              </a:lnSpc>
              <a:buAutoNum type="arabicPeriod" startAt="1"/>
            </a:pPr>
            <a:r>
              <a:rPr lang="en-US" sz="2105" spc="21">
                <a:solidFill>
                  <a:srgbClr val="FFFFFF"/>
                </a:solidFill>
                <a:latin typeface="Arimo"/>
                <a:ea typeface="Arimo"/>
                <a:cs typeface="Arimo"/>
                <a:sym typeface="Arimo"/>
              </a:rPr>
              <a:t>flatten:0: do flatten chỉ thực hiện ép phẳng khối (5,5,16) thành lớp 1D chứ k thực hiện quét hay học các trọng số</a:t>
            </a:r>
          </a:p>
          <a:p>
            <a:pPr algn="l" marL="454591" indent="-227296" lvl="1">
              <a:lnSpc>
                <a:spcPts val="2526"/>
              </a:lnSpc>
              <a:buAutoNum type="arabicPeriod" startAt="1"/>
            </a:pPr>
            <a:r>
              <a:rPr lang="en-US" sz="2105" spc="21">
                <a:solidFill>
                  <a:srgbClr val="FFFFFF"/>
                </a:solidFill>
                <a:latin typeface="Arimo"/>
                <a:ea typeface="Arimo"/>
                <a:cs typeface="Arimo"/>
                <a:sym typeface="Arimo"/>
              </a:rPr>
              <a:t>dropout:0: chỉ bỏ ngẫu nhiên các nơ ron trong quá trình thực hiện để tránh model ghi nhớ các chi tiết nhỏ không cần thiết để dẫn đến overfitting</a:t>
            </a:r>
          </a:p>
          <a:p>
            <a:pPr algn="l" marL="454591" indent="-227296" lvl="1">
              <a:lnSpc>
                <a:spcPts val="2526"/>
              </a:lnSpc>
              <a:buAutoNum type="arabicPeriod" startAt="1"/>
            </a:pPr>
            <a:r>
              <a:rPr lang="en-US" sz="2105" spc="21">
                <a:solidFill>
                  <a:srgbClr val="FFFFFF"/>
                </a:solidFill>
                <a:latin typeface="Arimo"/>
                <a:ea typeface="Arimo"/>
                <a:cs typeface="Arimo"/>
                <a:sym typeface="Arimo"/>
              </a:rPr>
              <a:t>dense:4010: do là lớp quyết định, với 400 nơ ron đầu vào từ flatten +1 bias rồi nhân với 10 nơ ron ra, là cách tính giá trị trên, 10 tương ứng 10 giá trị từ 0-9</a:t>
            </a:r>
          </a:p>
          <a:p>
            <a:pPr algn="l" marL="454591" indent="-227296" lvl="1">
              <a:lnSpc>
                <a:spcPts val="2526"/>
              </a:lnSpc>
              <a:spcBef>
                <a:spcPct val="0"/>
              </a:spcBef>
              <a:buAutoNum type="arabicPeriod" startAt="1"/>
            </a:pPr>
            <a:r>
              <a:rPr lang="en-US" sz="2105" spc="21">
                <a:solidFill>
                  <a:srgbClr val="FFFFFF"/>
                </a:solidFill>
                <a:latin typeface="Arimo"/>
                <a:ea typeface="Arimo"/>
                <a:cs typeface="Arimo"/>
                <a:sym typeface="Arimo"/>
              </a:rPr>
              <a:t>Trainable params và Non-trainable params là các trọng số được tối ưu và k chỉ được ghi chép( tính bằng 32/2 +64/2)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8" r="0" b="-88888"/>
            </a:stretch>
          </a:blipFill>
        </p:spPr>
      </p:sp>
      <p:sp>
        <p:nvSpPr>
          <p:cNvPr name="Freeform 3" id="3"/>
          <p:cNvSpPr/>
          <p:nvPr/>
        </p:nvSpPr>
        <p:spPr>
          <a:xfrm flipH="false" flipV="true" rot="0">
            <a:off x="-325158" y="7079335"/>
            <a:ext cx="18938317" cy="9779058"/>
          </a:xfrm>
          <a:custGeom>
            <a:avLst/>
            <a:gdLst/>
            <a:ahLst/>
            <a:cxnLst/>
            <a:rect r="r" b="b" t="t" l="l"/>
            <a:pathLst>
              <a:path h="9779058" w="18938317">
                <a:moveTo>
                  <a:pt x="0" y="9779058"/>
                </a:moveTo>
                <a:lnTo>
                  <a:pt x="18938316" y="9779058"/>
                </a:lnTo>
                <a:lnTo>
                  <a:pt x="18938316" y="0"/>
                </a:lnTo>
                <a:lnTo>
                  <a:pt x="0" y="0"/>
                </a:lnTo>
                <a:lnTo>
                  <a:pt x="0" y="977905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5158" y="-6571393"/>
            <a:ext cx="18938317" cy="9779058"/>
          </a:xfrm>
          <a:custGeom>
            <a:avLst/>
            <a:gdLst/>
            <a:ahLst/>
            <a:cxnLst/>
            <a:rect r="r" b="b" t="t" l="l"/>
            <a:pathLst>
              <a:path h="9779058" w="18938317">
                <a:moveTo>
                  <a:pt x="0" y="0"/>
                </a:moveTo>
                <a:lnTo>
                  <a:pt x="18938316" y="0"/>
                </a:lnTo>
                <a:lnTo>
                  <a:pt x="18938316" y="9779058"/>
                </a:lnTo>
                <a:lnTo>
                  <a:pt x="0" y="97790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540620" y="2675354"/>
            <a:ext cx="1207047" cy="7200900"/>
          </a:xfrm>
          <a:custGeom>
            <a:avLst/>
            <a:gdLst/>
            <a:ahLst/>
            <a:cxnLst/>
            <a:rect r="r" b="b" t="t" l="l"/>
            <a:pathLst>
              <a:path h="7200900" w="1207047">
                <a:moveTo>
                  <a:pt x="0" y="0"/>
                </a:moveTo>
                <a:lnTo>
                  <a:pt x="1207048" y="0"/>
                </a:lnTo>
                <a:lnTo>
                  <a:pt x="1207048"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40332" y="410746"/>
            <a:ext cx="1207047" cy="7200900"/>
          </a:xfrm>
          <a:custGeom>
            <a:avLst/>
            <a:gdLst/>
            <a:ahLst/>
            <a:cxnLst/>
            <a:rect r="r" b="b" t="t" l="l"/>
            <a:pathLst>
              <a:path h="7200900" w="1207047">
                <a:moveTo>
                  <a:pt x="1207048" y="7200900"/>
                </a:moveTo>
                <a:lnTo>
                  <a:pt x="0" y="7200900"/>
                </a:lnTo>
                <a:lnTo>
                  <a:pt x="0" y="0"/>
                </a:lnTo>
                <a:lnTo>
                  <a:pt x="1207048" y="0"/>
                </a:lnTo>
                <a:lnTo>
                  <a:pt x="1207048" y="72009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40332" y="8946022"/>
            <a:ext cx="7315200" cy="624556"/>
          </a:xfrm>
          <a:custGeom>
            <a:avLst/>
            <a:gdLst/>
            <a:ahLst/>
            <a:cxnLst/>
            <a:rect r="r" b="b" t="t" l="l"/>
            <a:pathLst>
              <a:path h="624556" w="7315200">
                <a:moveTo>
                  <a:pt x="0" y="0"/>
                </a:moveTo>
                <a:lnTo>
                  <a:pt x="7315200" y="0"/>
                </a:lnTo>
                <a:lnTo>
                  <a:pt x="7315200" y="624556"/>
                </a:lnTo>
                <a:lnTo>
                  <a:pt x="0" y="6245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0">
            <a:off x="10432468" y="716422"/>
            <a:ext cx="7315200" cy="624556"/>
          </a:xfrm>
          <a:custGeom>
            <a:avLst/>
            <a:gdLst/>
            <a:ahLst/>
            <a:cxnLst/>
            <a:rect r="r" b="b" t="t" l="l"/>
            <a:pathLst>
              <a:path h="624556" w="7315200">
                <a:moveTo>
                  <a:pt x="7315200" y="0"/>
                </a:moveTo>
                <a:lnTo>
                  <a:pt x="0" y="0"/>
                </a:lnTo>
                <a:lnTo>
                  <a:pt x="0" y="624556"/>
                </a:lnTo>
                <a:lnTo>
                  <a:pt x="7315200" y="624556"/>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9" id="9"/>
          <p:cNvSpPr/>
          <p:nvPr/>
        </p:nvSpPr>
        <p:spPr>
          <a:xfrm flipV="true">
            <a:off x="1968398" y="1028700"/>
            <a:ext cx="9412889" cy="0"/>
          </a:xfrm>
          <a:prstGeom prst="line">
            <a:avLst/>
          </a:prstGeom>
          <a:ln cap="flat" w="19050">
            <a:solidFill>
              <a:srgbClr val="86EDFF"/>
            </a:solidFill>
            <a:prstDash val="solid"/>
            <a:headEnd type="none" len="sm" w="sm"/>
            <a:tailEnd type="none" len="sm" w="sm"/>
          </a:ln>
        </p:spPr>
      </p:sp>
      <p:sp>
        <p:nvSpPr>
          <p:cNvPr name="AutoShape 10" id="10"/>
          <p:cNvSpPr/>
          <p:nvPr/>
        </p:nvSpPr>
        <p:spPr>
          <a:xfrm>
            <a:off x="6906713" y="9258300"/>
            <a:ext cx="9412889" cy="0"/>
          </a:xfrm>
          <a:prstGeom prst="line">
            <a:avLst/>
          </a:prstGeom>
          <a:ln cap="flat" w="19050">
            <a:solidFill>
              <a:srgbClr val="86EDFF"/>
            </a:solidFill>
            <a:prstDash val="solid"/>
            <a:headEnd type="none" len="sm" w="sm"/>
            <a:tailEnd type="none" len="sm" w="sm"/>
          </a:ln>
        </p:spPr>
      </p:sp>
      <p:grpSp>
        <p:nvGrpSpPr>
          <p:cNvPr name="Group 11" id="11"/>
          <p:cNvGrpSpPr/>
          <p:nvPr/>
        </p:nvGrpSpPr>
        <p:grpSpPr>
          <a:xfrm rot="0">
            <a:off x="16259067" y="9197765"/>
            <a:ext cx="121069" cy="1210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3" id="13"/>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grpSp>
        <p:nvGrpSpPr>
          <p:cNvPr name="Group 14" id="14"/>
          <p:cNvGrpSpPr/>
          <p:nvPr/>
        </p:nvGrpSpPr>
        <p:grpSpPr>
          <a:xfrm rot="0">
            <a:off x="1907864" y="968165"/>
            <a:ext cx="121069" cy="12106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DFF"/>
            </a:solidFill>
          </p:spPr>
        </p:sp>
        <p:sp>
          <p:nvSpPr>
            <p:cNvPr name="TextBox 16" id="16"/>
            <p:cNvSpPr txBox="true"/>
            <p:nvPr/>
          </p:nvSpPr>
          <p:spPr>
            <a:xfrm>
              <a:off x="76200" y="66675"/>
              <a:ext cx="660400" cy="669925"/>
            </a:xfrm>
            <a:prstGeom prst="rect">
              <a:avLst/>
            </a:prstGeom>
          </p:spPr>
          <p:txBody>
            <a:bodyPr anchor="ctr" rtlCol="false" tIns="50800" lIns="50800" bIns="50800" rIns="50800"/>
            <a:lstStyle/>
            <a:p>
              <a:pPr algn="ctr" marL="0" indent="0" lvl="0">
                <a:lnSpc>
                  <a:spcPts val="2526"/>
                </a:lnSpc>
              </a:pPr>
            </a:p>
          </p:txBody>
        </p:sp>
      </p:grpSp>
      <p:sp>
        <p:nvSpPr>
          <p:cNvPr name="Freeform 17" id="17"/>
          <p:cNvSpPr/>
          <p:nvPr/>
        </p:nvSpPr>
        <p:spPr>
          <a:xfrm flipH="false" flipV="false" rot="0">
            <a:off x="1028700" y="2586251"/>
            <a:ext cx="5433730" cy="3596141"/>
          </a:xfrm>
          <a:custGeom>
            <a:avLst/>
            <a:gdLst/>
            <a:ahLst/>
            <a:cxnLst/>
            <a:rect r="r" b="b" t="t" l="l"/>
            <a:pathLst>
              <a:path h="3596141" w="5433730">
                <a:moveTo>
                  <a:pt x="0" y="0"/>
                </a:moveTo>
                <a:lnTo>
                  <a:pt x="5433730" y="0"/>
                </a:lnTo>
                <a:lnTo>
                  <a:pt x="5433730" y="3596142"/>
                </a:lnTo>
                <a:lnTo>
                  <a:pt x="0" y="3596142"/>
                </a:lnTo>
                <a:lnTo>
                  <a:pt x="0" y="0"/>
                </a:lnTo>
                <a:close/>
              </a:path>
            </a:pathLst>
          </a:custGeom>
          <a:blipFill>
            <a:blip r:embed="rId9"/>
            <a:stretch>
              <a:fillRect l="0" t="0" r="0" b="0"/>
            </a:stretch>
          </a:blipFill>
        </p:spPr>
      </p:sp>
      <p:sp>
        <p:nvSpPr>
          <p:cNvPr name="TextBox 18" id="18"/>
          <p:cNvSpPr txBox="true"/>
          <p:nvPr/>
        </p:nvSpPr>
        <p:spPr>
          <a:xfrm rot="0">
            <a:off x="10311200" y="9390466"/>
            <a:ext cx="6008402" cy="304800"/>
          </a:xfrm>
          <a:prstGeom prst="rect">
            <a:avLst/>
          </a:prstGeom>
        </p:spPr>
        <p:txBody>
          <a:bodyPr anchor="t" rtlCol="false" tIns="0" lIns="0" bIns="0" rIns="0">
            <a:spAutoFit/>
          </a:bodyPr>
          <a:lstStyle/>
          <a:p>
            <a:pPr algn="r" marL="0" indent="0" lvl="0">
              <a:lnSpc>
                <a:spcPts val="2300"/>
              </a:lnSpc>
              <a:spcBef>
                <a:spcPct val="0"/>
              </a:spcBef>
            </a:pPr>
            <a:r>
              <a:rPr lang="en-US" sz="1916" i="true" spc="19">
                <a:solidFill>
                  <a:srgbClr val="FFFFFF"/>
                </a:solidFill>
                <a:latin typeface="Arimo Italics"/>
                <a:ea typeface="Arimo Italics"/>
                <a:cs typeface="Arimo Italics"/>
                <a:sym typeface="Arimo Italics"/>
              </a:rPr>
              <a:t>Deep Learning | Nhận Diện Chữ Viết Tay</a:t>
            </a:r>
          </a:p>
        </p:txBody>
      </p:sp>
      <p:sp>
        <p:nvSpPr>
          <p:cNvPr name="TextBox 19" id="19"/>
          <p:cNvSpPr txBox="true"/>
          <p:nvPr/>
        </p:nvSpPr>
        <p:spPr>
          <a:xfrm rot="0">
            <a:off x="-1094478" y="1079710"/>
            <a:ext cx="7400421" cy="609600"/>
          </a:xfrm>
          <a:prstGeom prst="rect">
            <a:avLst/>
          </a:prstGeom>
        </p:spPr>
        <p:txBody>
          <a:bodyPr anchor="t" rtlCol="false" tIns="0" lIns="0" bIns="0" rIns="0">
            <a:spAutoFit/>
          </a:bodyPr>
          <a:lstStyle/>
          <a:p>
            <a:pPr algn="ctr">
              <a:lnSpc>
                <a:spcPts val="4799"/>
              </a:lnSpc>
              <a:spcBef>
                <a:spcPct val="0"/>
              </a:spcBef>
            </a:pPr>
            <a:r>
              <a:rPr lang="en-US" b="true" sz="3999" spc="39">
                <a:solidFill>
                  <a:srgbClr val="FFFFFF"/>
                </a:solidFill>
                <a:latin typeface="Arimo Bold"/>
                <a:ea typeface="Arimo Bold"/>
                <a:cs typeface="Arimo Bold"/>
                <a:sym typeface="Arimo Bold"/>
              </a:rPr>
              <a:t>TRAINING</a:t>
            </a:r>
          </a:p>
        </p:txBody>
      </p:sp>
      <p:sp>
        <p:nvSpPr>
          <p:cNvPr name="TextBox 20" id="20"/>
          <p:cNvSpPr txBox="true"/>
          <p:nvPr/>
        </p:nvSpPr>
        <p:spPr>
          <a:xfrm rot="0">
            <a:off x="6906713" y="2576726"/>
            <a:ext cx="9766181" cy="4774658"/>
          </a:xfrm>
          <a:prstGeom prst="rect">
            <a:avLst/>
          </a:prstGeom>
        </p:spPr>
        <p:txBody>
          <a:bodyPr anchor="t" rtlCol="false" tIns="0" lIns="0" bIns="0" rIns="0">
            <a:spAutoFit/>
          </a:bodyPr>
          <a:lstStyle/>
          <a:p>
            <a:pPr algn="just">
              <a:lnSpc>
                <a:spcPts val="2553"/>
              </a:lnSpc>
            </a:pPr>
            <a:r>
              <a:rPr lang="en-US" sz="2128" i="true" spc="21">
                <a:solidFill>
                  <a:srgbClr val="FFFFFF"/>
                </a:solidFill>
                <a:latin typeface="Arimo Italics"/>
                <a:ea typeface="Arimo Italics"/>
                <a:cs typeface="Arimo Italics"/>
                <a:sym typeface="Arimo Italics"/>
              </a:rPr>
              <a:t>    1.Model.fit dùng để huấn luyện với dữ liệu đầu vào là X_train và y_train</a:t>
            </a:r>
          </a:p>
          <a:p>
            <a:pPr algn="just">
              <a:lnSpc>
                <a:spcPts val="2553"/>
              </a:lnSpc>
            </a:pPr>
          </a:p>
          <a:p>
            <a:pPr algn="l" marL="459437" indent="-229719" lvl="1">
              <a:lnSpc>
                <a:spcPts val="2553"/>
              </a:lnSpc>
              <a:buAutoNum type="arabicPeriod" startAt="1"/>
            </a:pPr>
            <a:r>
              <a:rPr lang="en-US" sz="2128" i="true" spc="21">
                <a:solidFill>
                  <a:srgbClr val="FFFFFF"/>
                </a:solidFill>
                <a:latin typeface="Arimo Italics"/>
                <a:ea typeface="Arimo Italics"/>
                <a:cs typeface="Arimo Italics"/>
                <a:sym typeface="Arimo Italics"/>
              </a:rPr>
              <a:t>Tham số epochs là vòng lặp, với 10 nghĩa là thực hiện 10 vòng lặp thì dừng    lại</a:t>
            </a:r>
          </a:p>
          <a:p>
            <a:pPr algn="just">
              <a:lnSpc>
                <a:spcPts val="2553"/>
              </a:lnSpc>
            </a:pPr>
          </a:p>
          <a:p>
            <a:pPr algn="l" marL="459437" indent="-229719" lvl="1">
              <a:lnSpc>
                <a:spcPts val="2553"/>
              </a:lnSpc>
              <a:buAutoNum type="arabicPeriod" startAt="1"/>
            </a:pPr>
            <a:r>
              <a:rPr lang="en-US" sz="2128" i="true" spc="21">
                <a:solidFill>
                  <a:srgbClr val="FFFFFF"/>
                </a:solidFill>
                <a:latin typeface="Arimo Italics"/>
                <a:ea typeface="Arimo Italics"/>
                <a:cs typeface="Arimo Italics"/>
                <a:sym typeface="Arimo Italics"/>
              </a:rPr>
              <a:t>bath_size: lượng ảnh, dữ liệu một lần đưa vào, với 128 thì thực hiện 375 lần sẽ hoàn thành 1 epoch</a:t>
            </a:r>
          </a:p>
          <a:p>
            <a:pPr algn="just">
              <a:lnSpc>
                <a:spcPts val="2553"/>
              </a:lnSpc>
            </a:pPr>
          </a:p>
          <a:p>
            <a:pPr algn="l" marL="459437" indent="-229719" lvl="1">
              <a:lnSpc>
                <a:spcPts val="2553"/>
              </a:lnSpc>
              <a:buAutoNum type="arabicPeriod" startAt="1"/>
            </a:pPr>
            <a:r>
              <a:rPr lang="en-US" sz="2128" i="true" spc="21">
                <a:solidFill>
                  <a:srgbClr val="FFFFFF"/>
                </a:solidFill>
                <a:latin typeface="Arimo Italics"/>
                <a:ea typeface="Arimo Italics"/>
                <a:cs typeface="Arimo Italics"/>
                <a:sym typeface="Arimo Italics"/>
              </a:rPr>
              <a:t>validation_split dùng để tách tập train thành 2 phần, train và val dùng để kiểm tra sau mỗi epoch, 0.2 nghĩa là 20% sẽ được tách ra ngẫu nhiên, nên tập train thông thường sẽ là 48000 ảnh</a:t>
            </a:r>
          </a:p>
          <a:p>
            <a:pPr algn="just">
              <a:lnSpc>
                <a:spcPts val="2553"/>
              </a:lnSpc>
            </a:pPr>
          </a:p>
          <a:p>
            <a:pPr algn="l" marL="459437" indent="-229719" lvl="1">
              <a:lnSpc>
                <a:spcPts val="2553"/>
              </a:lnSpc>
              <a:buAutoNum type="arabicPeriod" startAt="1"/>
            </a:pPr>
            <a:r>
              <a:rPr lang="en-US" sz="2128" i="true" spc="21">
                <a:solidFill>
                  <a:srgbClr val="FFFFFF"/>
                </a:solidFill>
                <a:latin typeface="Arimo Italics"/>
                <a:ea typeface="Arimo Italics"/>
                <a:cs typeface="Arimo Italics"/>
                <a:sym typeface="Arimo Italics"/>
              </a:rPr>
              <a:t>verbose biểu thị cho mức hiển thị trạng thái huấn luyện, =0 là không hiển thị tiến độ, =1 là hiển thị, =2 là hiển thị chi tiết</a:t>
            </a:r>
          </a:p>
          <a:p>
            <a:pPr algn="just">
              <a:lnSpc>
                <a:spcPts val="2553"/>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DAHVKW5lpHs</dc:identifier>
  <dcterms:modified xsi:type="dcterms:W3CDTF">2011-08-01T06:04:30Z</dcterms:modified>
  <cp:revision>1</cp:revision>
  <dc:title>Nhận Diện Chữ Viết Tay</dc:title>
</cp:coreProperties>
</file>